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411480"/>
            <a:ext cx="2651760" cy="1417320"/>
          </a:xfrm>
          <a:prstGeom prst="roundRect">
            <a:avLst/>
          </a:prstGeom>
          <a:solidFill>
            <a:srgbClr val="F7F9FC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411480"/>
            <a:ext cx="2651760" cy="31181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76200" bIns="25400"/>
          <a:lstStyle/>
          <a:p>
            <a:pPr algn="l"/>
            <a:r>
              <a:rPr b="1" sz="1600">
                <a:solidFill>
                  <a:srgbClr val="FFFFFF"/>
                </a:solidFill>
              </a:rPr>
              <a:t>Raw Câmara Open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2760" y="799490"/>
            <a:ext cx="2448560" cy="978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Roll-call vote sessions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Proposition metadata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Authors / parties / legislature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Government orientation fields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411480"/>
            <a:ext cx="2651760" cy="1417320"/>
          </a:xfrm>
          <a:prstGeom prst="roundRect">
            <a:avLst/>
          </a:prstGeom>
          <a:solidFill>
            <a:srgbClr val="F7F9FC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83280" y="411480"/>
            <a:ext cx="2651760" cy="31181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76200" bIns="25400"/>
          <a:lstStyle/>
          <a:p>
            <a:pPr algn="l"/>
            <a:r>
              <a:rPr b="1" sz="1600">
                <a:solidFill>
                  <a:srgbClr val="FFFFFF"/>
                </a:solidFill>
              </a:rPr>
              <a:t>Ingestion + Harmonization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10280" y="799490"/>
            <a:ext cx="2448560" cy="978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Download / load sources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Normalize identifiers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Parse dates and outcomes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Remove duplicates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411480"/>
            <a:ext cx="2651760" cy="1417320"/>
          </a:xfrm>
          <a:prstGeom prst="roundRect">
            <a:avLst/>
          </a:prstGeom>
          <a:solidFill>
            <a:srgbClr val="F7F9FC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411480"/>
            <a:ext cx="2651760" cy="31181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76200" bIns="25400"/>
          <a:lstStyle/>
          <a:p>
            <a:pPr algn="l"/>
            <a:r>
              <a:rPr b="1" sz="1600">
                <a:solidFill>
                  <a:srgbClr val="FFFFFF"/>
                </a:solidFill>
              </a:rPr>
              <a:t>Join &amp; Filtering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7800" y="799490"/>
            <a:ext cx="2448560" cy="978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Join sessions ↔ proposition info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Join engineered feature tables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Keep clear outcomes (0/1)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Sort chronologically by 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20" y="411480"/>
            <a:ext cx="2651760" cy="1417320"/>
          </a:xfrm>
          <a:prstGeom prst="roundRect">
            <a:avLst/>
          </a:prstGeom>
          <a:solidFill>
            <a:srgbClr val="F7F9FC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0" y="411480"/>
            <a:ext cx="2651760" cy="31181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76200" bIns="25400"/>
          <a:lstStyle/>
          <a:p>
            <a:pPr algn="l"/>
            <a:r>
              <a:rPr b="1" sz="1600">
                <a:solidFill>
                  <a:srgbClr val="FFFFFF"/>
                </a:solidFill>
              </a:rPr>
              <a:t>Leakage-safe 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45320" y="799490"/>
            <a:ext cx="2448560" cy="978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Features use only past info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No look-ahead / no test leakage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Chronological evaluation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2240280"/>
            <a:ext cx="2651760" cy="1874519"/>
          </a:xfrm>
          <a:prstGeom prst="roundRect">
            <a:avLst/>
          </a:prstGeom>
          <a:solidFill>
            <a:srgbClr val="F7F9FC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83280" y="2240280"/>
            <a:ext cx="2651760" cy="412394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76200" bIns="25400"/>
          <a:lstStyle/>
          <a:p>
            <a:pPr algn="l"/>
            <a:r>
              <a:rPr b="1" sz="1600">
                <a:solidFill>
                  <a:srgbClr val="FFFFFF"/>
                </a:solidFill>
              </a:rPr>
              <a:t>Feature Engineering (per session 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0280" y="2728874"/>
            <a:ext cx="2448560" cy="1335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Gov. orientation: resolve GOV. vs Governo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Coalition size: num_authors_trunc, &gt;10 flag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Author popularity: past success (merged)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Party popularity: last K sessions (K=5)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HAR: past outcomes for same proposition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Missing: popularity/party_pop=0, HAR=0.5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2240280"/>
            <a:ext cx="2651760" cy="1874519"/>
          </a:xfrm>
          <a:prstGeom prst="roundRect">
            <a:avLst/>
          </a:prstGeom>
          <a:solidFill>
            <a:srgbClr val="F7F9FC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418320" y="2240280"/>
            <a:ext cx="2651760" cy="412394"/>
          </a:xfrm>
          <a:prstGeom prst="round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76200" bIns="25400"/>
          <a:lstStyle/>
          <a:p>
            <a:pPr algn="l"/>
            <a:r>
              <a:rPr b="1" sz="1600">
                <a:solidFill>
                  <a:srgbClr val="FFFFFF"/>
                </a:solidFill>
              </a:rPr>
              <a:t>Modeling +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45320" y="2728874"/>
            <a:ext cx="2448560" cy="1335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Train: first 80% (time-ordered)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Test: last 20% (future)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Models: VOTE-RAP, baselines, VIOLA-style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Metrics: AUROC + F1 (Rejected)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Rejected threshold: maximize F1 for class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754880"/>
            <a:ext cx="2651760" cy="1417320"/>
          </a:xfrm>
          <a:prstGeom prst="roundRect">
            <a:avLst/>
          </a:prstGeom>
          <a:solidFill>
            <a:srgbClr val="F7F9FC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4754880"/>
            <a:ext cx="2651760" cy="31181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76200" bIns="25400"/>
          <a:lstStyle/>
          <a:p>
            <a:pPr algn="l"/>
            <a:r>
              <a:rPr b="1" sz="1600">
                <a:solidFill>
                  <a:srgbClr val="FFFFFF"/>
                </a:solidFill>
              </a:rPr>
              <a:t>Artifacts (Saved Files)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2760" y="5142890"/>
            <a:ext cx="2448560" cy="978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vote_sessions_full.csv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author_popularity.csv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party_popularity_*.csv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proposition_history_*.csv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1F2D3D"/>
                </a:solidFill>
              </a:defRPr>
            </a:pPr>
            <a:r>
              <a:t>comparison_*.png / .csv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1120140.0"/>
            <a:ext cx="365760" cy="0.0"/>
          </a:xfrm>
          <a:prstGeom prst="line">
            <a:avLst/>
          </a:prstGeom>
          <a:ln w="19050">
            <a:solidFill>
              <a:srgbClr val="344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35040" y="1120140.0"/>
            <a:ext cx="365760" cy="0.0"/>
          </a:xfrm>
          <a:prstGeom prst="line">
            <a:avLst/>
          </a:prstGeom>
          <a:ln w="19050">
            <a:solidFill>
              <a:srgbClr val="344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052560" y="1120140.0"/>
            <a:ext cx="365760" cy="0.0"/>
          </a:xfrm>
          <a:prstGeom prst="line">
            <a:avLst/>
          </a:prstGeom>
          <a:ln w="19050">
            <a:solidFill>
              <a:srgbClr val="344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4709160.0" y="1828800"/>
            <a:ext cx="3017520.0" cy="411480"/>
          </a:xfrm>
          <a:prstGeom prst="line">
            <a:avLst/>
          </a:prstGeom>
          <a:ln w="19050">
            <a:solidFill>
              <a:srgbClr val="344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744200.0" y="1828800"/>
            <a:ext cx="0.0" cy="411480"/>
          </a:xfrm>
          <a:prstGeom prst="line">
            <a:avLst/>
          </a:prstGeom>
          <a:ln w="19050">
            <a:solidFill>
              <a:srgbClr val="344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35040" y="3177539.5"/>
            <a:ext cx="3383280" cy="0.0"/>
          </a:xfrm>
          <a:prstGeom prst="line">
            <a:avLst/>
          </a:prstGeom>
          <a:ln w="19050">
            <a:solidFill>
              <a:srgbClr val="344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017520" y="2423160"/>
            <a:ext cx="365760" cy="2331720"/>
          </a:xfrm>
          <a:prstGeom prst="line">
            <a:avLst/>
          </a:prstGeom>
          <a:ln w="19050">
            <a:solidFill>
              <a:srgbClr val="344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394960" y="1691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4495E"/>
                </a:solidFill>
              </a:defRPr>
            </a:pPr>
            <a:r>
              <a:t>compute features after merge (using only past sessions)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60020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4495E"/>
                </a:solidFill>
              </a:defRPr>
            </a:pPr>
            <a:r>
              <a:t>apply temporal split &amp; 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3080" y="3977639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4495E"/>
                </a:solidFill>
              </a:defRPr>
            </a:pPr>
            <a:r>
              <a:t>outputs / caches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34495E"/>
                </a:solidFill>
              </a:defRPr>
            </a:pPr>
            <a:r>
              <a:t>Dataset construction and leakage-safe feature computation workflow (VOTE-RAP).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
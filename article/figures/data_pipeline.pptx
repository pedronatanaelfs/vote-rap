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38760" y="411480"/>
            <a:ext cx="2778760" cy="31181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76200" rIns="127000" bIns="25400" rtlCol="0" anchor="ctr"/>
          <a:lstStyle/>
          <a:p>
            <a:pPr algn="l"/>
            <a:r>
              <a:rPr b="1" dirty="0">
                <a:solidFill>
                  <a:srgbClr val="FFFFFF"/>
                </a:solidFill>
              </a:rPr>
              <a:t>Raw Câmara Open Data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38760" y="411480"/>
            <a:ext cx="2778760" cy="2286458"/>
          </a:xfrm>
          <a:prstGeom prst="roundRect">
            <a:avLst>
              <a:gd name="adj" fmla="val 3730"/>
            </a:avLst>
          </a:prstGeom>
          <a:noFill/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38760" y="799490"/>
            <a:ext cx="27025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Roll-call vote sessions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Proposition metadata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Authors / parties / legislature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Government orientation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6280" y="411480"/>
            <a:ext cx="2778760" cy="31181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76200" rIns="127000" bIns="25400" rtlCol="0" anchor="ctr"/>
          <a:lstStyle/>
          <a:p>
            <a:pPr algn="l"/>
            <a:r>
              <a:rPr b="1" dirty="0">
                <a:solidFill>
                  <a:srgbClr val="FFFFFF"/>
                </a:solidFill>
              </a:rPr>
              <a:t>Ingestion + Harmonization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0280" y="799490"/>
            <a:ext cx="24485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Download / load sources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Normalize identifiers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Parse dates and outcomes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Remove duplicates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9896" y="411480"/>
            <a:ext cx="2854960" cy="31181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76200" rIns="127000" bIns="25400" rtlCol="0" anchor="ctr"/>
          <a:lstStyle/>
          <a:p>
            <a:pPr algn="l"/>
            <a:r>
              <a:rPr b="1" dirty="0">
                <a:solidFill>
                  <a:srgbClr val="FFFFFF"/>
                </a:solidFill>
              </a:rPr>
              <a:t>Join &amp;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3800" y="735990"/>
            <a:ext cx="294373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Join sessions ↔ proposition info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Join engineered feature tables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Keep clear outcomes (0/1)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Sort chronologically by date</a:t>
            </a: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lang="pt-BR" sz="1600" dirty="0"/>
              <a:t>Compute features after merge using only past sessions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9372600" y="411480"/>
            <a:ext cx="2697480" cy="31181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76200" rIns="127000" bIns="25400" rtlCol="0" anchor="ctr"/>
          <a:lstStyle/>
          <a:p>
            <a:pPr algn="l"/>
            <a:r>
              <a:rPr b="1" dirty="0">
                <a:solidFill>
                  <a:srgbClr val="FFFFFF"/>
                </a:solidFill>
              </a:rPr>
              <a:t>Leakage-safe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2119" y="772058"/>
            <a:ext cx="29361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Features use only past info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No look-ahead / no test leakage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Chronological evaluation</a:t>
            </a: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endParaRPr lang="pt-BR" sz="16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lang="pt-BR" sz="1600" dirty="0"/>
              <a:t>Apply temporal split and evaluation</a:t>
            </a:r>
            <a:endParaRPr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3914777" y="4023360"/>
            <a:ext cx="3844670" cy="412394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76200" rIns="127000" bIns="25400" rtlCol="0" anchor="ctr"/>
          <a:lstStyle/>
          <a:p>
            <a:pPr algn="l"/>
            <a:r>
              <a:rPr b="1" dirty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5134" y="4493666"/>
            <a:ext cx="37805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Gov. orientation: resolve GOV. vs Governo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Coalition size: </a:t>
            </a:r>
            <a:r>
              <a:rPr sz="1600" dirty="0" err="1"/>
              <a:t>num_authors_trunc</a:t>
            </a:r>
            <a:r>
              <a:rPr sz="1600" dirty="0"/>
              <a:t>, &gt;10 flag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br>
              <a:rPr lang="pt-BR" sz="1600" dirty="0"/>
            </a:br>
            <a:r>
              <a:rPr sz="1600" dirty="0"/>
              <a:t>Author popularity: past success (merged)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Party popularity: last K sessions (K=5)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br>
              <a:rPr lang="pt-BR" sz="1600" dirty="0"/>
            </a:br>
            <a:r>
              <a:rPr sz="1600" dirty="0"/>
              <a:t>HAR: past outcomes for same proposition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Missing: popularity/</a:t>
            </a:r>
            <a:r>
              <a:rPr sz="1600" dirty="0" err="1"/>
              <a:t>party_pop</a:t>
            </a:r>
            <a:r>
              <a:rPr sz="1600" dirty="0"/>
              <a:t>=0, HAR=0.5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1525" y="4023360"/>
            <a:ext cx="3678555" cy="412394"/>
          </a:xfrm>
          <a:prstGeom prst="round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76200" rIns="127000" bIns="25400" rtlCol="0" anchor="ctr"/>
          <a:lstStyle/>
          <a:p>
            <a:pPr algn="l"/>
            <a:r>
              <a:rPr b="1" dirty="0">
                <a:solidFill>
                  <a:srgbClr val="FFFFFF"/>
                </a:solidFill>
              </a:rPr>
              <a:t>Modeling +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2062" y="4493666"/>
            <a:ext cx="3780536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Train: first 80% (time-ordered)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Test: last 20% (future)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Models: VOTE-RAP, baselines, </a:t>
            </a:r>
            <a:r>
              <a:rPr lang="pt-BR" sz="1600" dirty="0"/>
              <a:t>Albuquerque</a:t>
            </a:r>
            <a:endParaRPr sz="16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Metrics: AUROC + F1 (Rejected)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Rejected threshold: maximize F1 for class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330" y="4324654"/>
            <a:ext cx="2651760" cy="31181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76200" rIns="127000" bIns="25400" rtlCol="0" anchor="ctr"/>
          <a:lstStyle/>
          <a:p>
            <a:pPr algn="l"/>
            <a:r>
              <a:rPr b="1" dirty="0">
                <a:solidFill>
                  <a:srgbClr val="FFFFFF"/>
                </a:solidFill>
              </a:rPr>
              <a:t>Artifacts (Saved Files)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330" y="4712664"/>
            <a:ext cx="2448560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vote_sessions_full.csv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author_popularity.csv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party_popularity_*.csv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proposition_history_*.csv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1F2D3D"/>
                </a:solidFill>
              </a:defRPr>
            </a:pPr>
            <a:r>
              <a:rPr sz="1600" dirty="0"/>
              <a:t>comparison_*.png / 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330" y="4324653"/>
            <a:ext cx="2651760" cy="2288788"/>
          </a:xfrm>
          <a:prstGeom prst="roundRect">
            <a:avLst>
              <a:gd name="adj" fmla="val 4409"/>
            </a:avLst>
          </a:prstGeom>
          <a:noFill/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56280" y="411479"/>
            <a:ext cx="2778760" cy="2286459"/>
          </a:xfrm>
          <a:prstGeom prst="roundRect">
            <a:avLst>
              <a:gd name="adj" fmla="val 4301"/>
            </a:avLst>
          </a:prstGeom>
          <a:noFill/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79896" y="411480"/>
            <a:ext cx="2854960" cy="2944368"/>
          </a:xfrm>
          <a:prstGeom prst="roundRect">
            <a:avLst>
              <a:gd name="adj" fmla="val 3764"/>
            </a:avLst>
          </a:prstGeom>
          <a:noFill/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72600" y="411479"/>
            <a:ext cx="2697480" cy="2422682"/>
          </a:xfrm>
          <a:prstGeom prst="roundRect">
            <a:avLst>
              <a:gd name="adj" fmla="val 3226"/>
            </a:avLst>
          </a:prstGeom>
          <a:noFill/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91525" y="4023359"/>
            <a:ext cx="3678555" cy="2532407"/>
          </a:xfrm>
          <a:prstGeom prst="roundRect">
            <a:avLst>
              <a:gd name="adj" fmla="val 2521"/>
            </a:avLst>
          </a:prstGeom>
          <a:noFill/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14777" y="4023361"/>
            <a:ext cx="3844670" cy="2532408"/>
          </a:xfrm>
          <a:prstGeom prst="roundRect">
            <a:avLst>
              <a:gd name="adj" fmla="val 4472"/>
            </a:avLst>
          </a:prstGeom>
          <a:noFill/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A2BCFD-A1DD-B0B8-0FF7-72AC8359A4DF}"/>
              </a:ext>
            </a:extLst>
          </p:cNvPr>
          <p:cNvCxnSpPr>
            <a:cxnSpLocks/>
          </p:cNvCxnSpPr>
          <p:nvPr/>
        </p:nvCxnSpPr>
        <p:spPr>
          <a:xfrm>
            <a:off x="2867025" y="1263650"/>
            <a:ext cx="3857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0736B07-38BE-664A-A80A-58191EA95843}"/>
              </a:ext>
            </a:extLst>
          </p:cNvPr>
          <p:cNvCxnSpPr>
            <a:cxnSpLocks/>
          </p:cNvCxnSpPr>
          <p:nvPr/>
        </p:nvCxnSpPr>
        <p:spPr>
          <a:xfrm>
            <a:off x="10746105" y="2953512"/>
            <a:ext cx="0" cy="989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A08D17-2916-EC9E-94DA-EB300655FE27}"/>
              </a:ext>
            </a:extLst>
          </p:cNvPr>
          <p:cNvCxnSpPr>
            <a:cxnSpLocks/>
          </p:cNvCxnSpPr>
          <p:nvPr/>
        </p:nvCxnSpPr>
        <p:spPr>
          <a:xfrm>
            <a:off x="7216775" y="3440049"/>
            <a:ext cx="1905" cy="502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BCDF4CC-406A-C89D-A155-2BF35382C5F2}"/>
              </a:ext>
            </a:extLst>
          </p:cNvPr>
          <p:cNvCxnSpPr>
            <a:cxnSpLocks/>
          </p:cNvCxnSpPr>
          <p:nvPr/>
        </p:nvCxnSpPr>
        <p:spPr>
          <a:xfrm>
            <a:off x="7802880" y="5122873"/>
            <a:ext cx="521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E118CB-9E7D-2C6C-646E-464BC05FD5A4}"/>
              </a:ext>
            </a:extLst>
          </p:cNvPr>
          <p:cNvCxnSpPr>
            <a:cxnSpLocks/>
          </p:cNvCxnSpPr>
          <p:nvPr/>
        </p:nvCxnSpPr>
        <p:spPr>
          <a:xfrm flipH="1">
            <a:off x="3453765" y="5122873"/>
            <a:ext cx="3629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59CE953-A69C-02E3-6EDA-DE43BA85AEF2}"/>
              </a:ext>
            </a:extLst>
          </p:cNvPr>
          <p:cNvCxnSpPr>
            <a:cxnSpLocks/>
          </p:cNvCxnSpPr>
          <p:nvPr/>
        </p:nvCxnSpPr>
        <p:spPr>
          <a:xfrm>
            <a:off x="5888039" y="1263650"/>
            <a:ext cx="3857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018000-2838-01E9-DDFF-7012C460ED21}"/>
              </a:ext>
            </a:extLst>
          </p:cNvPr>
          <p:cNvCxnSpPr>
            <a:cxnSpLocks/>
          </p:cNvCxnSpPr>
          <p:nvPr/>
        </p:nvCxnSpPr>
        <p:spPr>
          <a:xfrm>
            <a:off x="8986839" y="1260475"/>
            <a:ext cx="3857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221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Pedro</dc:creator>
  <cp:keywords/>
  <dc:description>generated using python-pptx</dc:description>
  <cp:lastModifiedBy>Pedro Silva</cp:lastModifiedBy>
  <cp:revision>6</cp:revision>
  <dcterms:created xsi:type="dcterms:W3CDTF">2013-01-27T09:14:16Z</dcterms:created>
  <dcterms:modified xsi:type="dcterms:W3CDTF">2026-01-24T01:41:11Z</dcterms:modified>
  <cp:category/>
</cp:coreProperties>
</file>